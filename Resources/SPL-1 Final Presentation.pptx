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  <p:embeddedFont>
      <p:font typeface="EB Garamond SemiBold"/>
      <p:regular r:id="rId18"/>
      <p:bold r:id="rId19"/>
      <p:italic r:id="rId20"/>
      <p:boldItalic r:id="rId21"/>
    </p:embeddedFont>
    <p:embeddedFont>
      <p:font typeface="Plus Jakarta Sans SemiBold"/>
      <p:regular r:id="rId22"/>
      <p:bold r:id="rId23"/>
      <p:italic r:id="rId24"/>
      <p:boldItalic r:id="rId25"/>
    </p:embeddedFont>
    <p:embeddedFont>
      <p:font typeface="Merriweather ExtraBold"/>
      <p:bold r:id="rId26"/>
      <p:boldItalic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BGaramondSemiBold-italic.fntdata"/><Relationship Id="rId22" Type="http://schemas.openxmlformats.org/officeDocument/2006/relationships/font" Target="fonts/PlusJakartaSansSemiBold-regular.fntdata"/><Relationship Id="rId21" Type="http://schemas.openxmlformats.org/officeDocument/2006/relationships/font" Target="fonts/EBGaramondSemiBold-boldItalic.fntdata"/><Relationship Id="rId24" Type="http://schemas.openxmlformats.org/officeDocument/2006/relationships/font" Target="fonts/PlusJakartaSansSemiBold-italic.fntdata"/><Relationship Id="rId23" Type="http://schemas.openxmlformats.org/officeDocument/2006/relationships/font" Target="fonts/PlusJakartaSans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ExtraBold-bold.fntdata"/><Relationship Id="rId25" Type="http://schemas.openxmlformats.org/officeDocument/2006/relationships/font" Target="fonts/PlusJakartaSansSemiBold-boldItalic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MerriweatherExtra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PlusJakartaSans-bold.fntdata"/><Relationship Id="rId14" Type="http://schemas.openxmlformats.org/officeDocument/2006/relationships/font" Target="fonts/PlusJakartaSans-regular.fntdata"/><Relationship Id="rId17" Type="http://schemas.openxmlformats.org/officeDocument/2006/relationships/font" Target="fonts/PlusJakartaSans-boldItalic.fntdata"/><Relationship Id="rId16" Type="http://schemas.openxmlformats.org/officeDocument/2006/relationships/font" Target="fonts/PlusJakartaSans-italic.fntdata"/><Relationship Id="rId19" Type="http://schemas.openxmlformats.org/officeDocument/2006/relationships/font" Target="fonts/EBGaramondSemiBold-bold.fntdata"/><Relationship Id="rId18" Type="http://schemas.openxmlformats.org/officeDocument/2006/relationships/font" Target="fonts/EBGaramond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02e6975a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02e6975a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11" Type="http://schemas.openxmlformats.org/officeDocument/2006/relationships/image" Target="../media/image27.png"/><Relationship Id="rId10" Type="http://schemas.openxmlformats.org/officeDocument/2006/relationships/image" Target="../media/image10.png"/><Relationship Id="rId9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9.png"/><Relationship Id="rId10" Type="http://schemas.openxmlformats.org/officeDocument/2006/relationships/image" Target="../media/image18.png"/><Relationship Id="rId9" Type="http://schemas.openxmlformats.org/officeDocument/2006/relationships/image" Target="../media/image13.png"/><Relationship Id="rId5" Type="http://schemas.openxmlformats.org/officeDocument/2006/relationships/image" Target="../media/image21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Relationship Id="rId8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34.png"/><Relationship Id="rId13" Type="http://schemas.openxmlformats.org/officeDocument/2006/relationships/image" Target="../media/image30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16.png"/><Relationship Id="rId15" Type="http://schemas.openxmlformats.org/officeDocument/2006/relationships/image" Target="../media/image33.png"/><Relationship Id="rId14" Type="http://schemas.openxmlformats.org/officeDocument/2006/relationships/image" Target="../media/image29.png"/><Relationship Id="rId17" Type="http://schemas.openxmlformats.org/officeDocument/2006/relationships/image" Target="../media/image31.png"/><Relationship Id="rId16" Type="http://schemas.openxmlformats.org/officeDocument/2006/relationships/image" Target="../media/image37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15.png"/><Relationship Id="rId8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39.png"/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38.png"/><Relationship Id="rId9" Type="http://schemas.openxmlformats.org/officeDocument/2006/relationships/image" Target="../media/image42.png"/><Relationship Id="rId5" Type="http://schemas.openxmlformats.org/officeDocument/2006/relationships/image" Target="../media/image35.png"/><Relationship Id="rId6" Type="http://schemas.openxmlformats.org/officeDocument/2006/relationships/image" Target="../media/image40.png"/><Relationship Id="rId7" Type="http://schemas.openxmlformats.org/officeDocument/2006/relationships/image" Target="../media/image43.png"/><Relationship Id="rId8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380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1100" y="1575441"/>
            <a:ext cx="24098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3850" y="4285208"/>
            <a:ext cx="39243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3089559" y="2225400"/>
            <a:ext cx="60129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700" u="none" cap="none" strike="noStrike">
                <a:solidFill>
                  <a:srgbClr val="0F172A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ARGUS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982566" y="3429000"/>
            <a:ext cx="822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Real-Time Exam Supervision Engine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72150" y="4675733"/>
            <a:ext cx="113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477125" y="4675733"/>
            <a:ext cx="58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109554" y="4788482"/>
            <a:ext cx="39729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Name : Ashish Roy Shayon</a:t>
            </a:r>
            <a:endParaRPr sz="1800">
              <a:solidFill>
                <a:schemeClr val="dk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Roll : 245433</a:t>
            </a:r>
            <a:endParaRPr sz="1800">
              <a:solidFill>
                <a:schemeClr val="dk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rPr>
              <a:t>Supervisor : Dr. Ahmedul Kabir</a:t>
            </a:r>
            <a:endParaRPr sz="1800">
              <a:solidFill>
                <a:schemeClr val="dk1"/>
              </a:solidFill>
              <a:latin typeface="EB Garamond SemiBold"/>
              <a:ea typeface="EB Garamond SemiBold"/>
              <a:cs typeface="EB Garamond SemiBold"/>
              <a:sym typeface="EB Garamon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6124575"/>
            <a:ext cx="10572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09625" y="619125"/>
            <a:ext cx="111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Description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809625" y="121339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6339773"/>
            <a:ext cx="1895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SOFTWARE PROJECT LAB 1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868025" y="6339773"/>
            <a:ext cx="51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PAGE 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794452" y="1422075"/>
            <a:ext cx="8521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"Because cheating shouldn't be easier than studying."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24795" y="2487225"/>
            <a:ext cx="49407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Argus is a high-performance network monitor engineered to eliminate digital examination loopholes with absolute zero network latency.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6810375" y="2487215"/>
            <a:ext cx="45720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Native OS Integration: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Operates directly at the packet layer using raw sockets.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810375" y="3275707"/>
            <a:ext cx="45720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Advanced Inspection: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Bypasses standard application-layer limitations and simple DNS filters.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810375" y="4064198"/>
            <a:ext cx="4572000" cy="5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Threat Neutralization: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Defeats hidden encrypted VPN tunnels and proxy chains.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810375" y="4852689"/>
            <a:ext cx="4572000" cy="57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Anti-Tampering: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Systematically prevents local OS clock manipulation.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75914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364406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15289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941388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6124575"/>
            <a:ext cx="105727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204416"/>
            <a:ext cx="3301900" cy="2971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4900" y="2204416"/>
            <a:ext cx="3302049" cy="2971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0325" y="2204416"/>
            <a:ext cx="3301900" cy="297150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09625" y="619125"/>
            <a:ext cx="111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Motivation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809625" y="121339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09625" y="6324600"/>
            <a:ext cx="1895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SOFTWARE PROJECT LAB 1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0868025" y="63246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PAGE 3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52525" y="2516971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152525" y="3271216"/>
            <a:ext cx="274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Problem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152525" y="3614116"/>
            <a:ext cx="26160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Basic DNS filtering is highly vulnerable. Students easily bypass these measures using proxy chains and standard circumvention tools during exams.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87800" y="2547316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4787800" y="3271216"/>
            <a:ext cx="2747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Vulnerability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4787800" y="3614116"/>
            <a:ext cx="26163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Undetected encrypted VPN tunnels and local OS clock tampering entirely compromise the integrity of digital examinations across the network.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3225" y="2547316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8423225" y="3271216"/>
            <a:ext cx="2746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Solution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423225" y="3614116"/>
            <a:ext cx="2616000" cy="13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robust, low-level Deep Packet Inspection (DPI) engine designed to ensure fundamentally fair and secure environments for honest students.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90637" y="2699716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54488" y="2699716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75625" y="2699716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6124575"/>
            <a:ext cx="10572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09625" y="619125"/>
            <a:ext cx="111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System Workflow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809625" y="121339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09625" y="6324600"/>
            <a:ext cx="1895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SOFTWARE PROJECT LAB 1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868025" y="63246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PAGE 4</a:t>
            </a:r>
            <a:endParaRPr/>
          </a:p>
        </p:txBody>
      </p:sp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7904" y="250957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1113825" y="3544575"/>
            <a:ext cx="1505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Capture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000350" y="3930236"/>
            <a:ext cx="173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Intercepts traffic silently at native OS layer via raw sockets.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47" name="Google Shape;14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2603" y="250957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3382715" y="3544575"/>
            <a:ext cx="119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Parse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3115048" y="3930236"/>
            <a:ext cx="173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Strips Ethernet, IP, and TCP headers mathematically in-memory.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7302" y="250957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419278" y="3544575"/>
            <a:ext cx="135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Extract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229747" y="3930236"/>
            <a:ext cx="173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Parses TLS Client Hello handshake for Server Name Indication.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2001" y="250957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6"/>
          <p:cNvSpPr txBox="1"/>
          <p:nvPr/>
        </p:nvSpPr>
        <p:spPr>
          <a:xfrm>
            <a:off x="7768539" y="3557320"/>
            <a:ext cx="88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Enforce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344446" y="3930236"/>
            <a:ext cx="173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Evaluates parsed hostname via an Aho-Corasick Automaton.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96700" y="2509570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 txBox="1"/>
          <p:nvPr/>
        </p:nvSpPr>
        <p:spPr>
          <a:xfrm>
            <a:off x="10012938" y="3557320"/>
            <a:ext cx="624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Drop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459145" y="3930236"/>
            <a:ext cx="1732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Proactively drops and logs unauthorized data packets</a:t>
            </a:r>
            <a:r>
              <a:rPr b="0" i="0" lang="en-US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descr="image.png" id="159" name="Google Shape;15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6029" y="278579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09778" y="2785795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43527" y="278579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20126" y="2785795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172925" y="278579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6"/>
          <p:cNvSpPr/>
          <p:nvPr/>
        </p:nvSpPr>
        <p:spPr>
          <a:xfrm>
            <a:off x="2273930" y="2924075"/>
            <a:ext cx="1322100" cy="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387055" y="2920950"/>
            <a:ext cx="1322100" cy="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6473180" y="2920950"/>
            <a:ext cx="1322100" cy="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8625980" y="2920950"/>
            <a:ext cx="1322100" cy="3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6124575"/>
            <a:ext cx="10572750" cy="35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809625" y="619125"/>
            <a:ext cx="11101387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System Features</a:t>
            </a:r>
            <a:endParaRPr/>
          </a:p>
        </p:txBody>
      </p:sp>
      <p:sp>
        <p:nvSpPr>
          <p:cNvPr id="174" name="Google Shape;174;p17"/>
          <p:cNvSpPr/>
          <p:nvPr/>
        </p:nvSpPr>
        <p:spPr>
          <a:xfrm>
            <a:off x="809625" y="121339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809625" y="6324600"/>
            <a:ext cx="1895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SOFTWARE PROJECT LAB 1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0868025" y="63246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PAGE 5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238250" y="2175870"/>
            <a:ext cx="4572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</a:t>
            </a:r>
            <a:r>
              <a:rPr b="1" lang="en-US" sz="142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eep Packet Inspection</a:t>
            </a: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Bypasses DNS filtering by extracting Server Name Indication from TLS handshakes prior to encryption.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238250" y="3253832"/>
            <a:ext cx="4572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Hybrid Cryptography: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Secures telemetry tunnel using a robust mix of asymmetric (RSA) and symmetric (RC4/XOR) encryption.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238250" y="4331794"/>
            <a:ext cx="4572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Precision Anti-Tamper: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Syncs clients with a trusted server time, actively defeating local OS clock manipulation.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810375" y="2175870"/>
            <a:ext cx="4572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VPN Detection: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Analyzes payload randomness using Shannon Entropy to identify tunnels without data decryption.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6810375" y="3253832"/>
            <a:ext cx="4572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Multiplexed Dashboard: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Single-threaded architecture asynchronously monitoring  students via an ImGui/OpenGL interface.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6810375" y="4331794"/>
            <a:ext cx="45720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Compression: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Huffman Coding shrinks violation logs to fit strictly within the 512-byte binary protocol limit.</a:t>
            </a:r>
            <a:endParaRPr/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230364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338160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" y="4459567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03643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38160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459567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3175" y="5444623"/>
            <a:ext cx="9765633" cy="32552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3175" y="1498075"/>
            <a:ext cx="4728853" cy="2322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9964" y="1498075"/>
            <a:ext cx="4728853" cy="2322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3175" y="4000088"/>
            <a:ext cx="4728853" cy="2322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49964" y="3969743"/>
            <a:ext cx="4728853" cy="23223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66688" y="2823356"/>
            <a:ext cx="4095407" cy="7107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29899" y="5447647"/>
            <a:ext cx="4095407" cy="52773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809625" y="467399"/>
            <a:ext cx="1110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Algorithmic Engine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809625" y="1061669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1529899" y="2342670"/>
            <a:ext cx="40956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 widely used asymmetric (public-key) cryptographic method developed in 1977, essential for securing online data transmission</a:t>
            </a:r>
            <a:endParaRPr sz="1193">
              <a:solidFill>
                <a:schemeClr val="dk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6566688" y="2297153"/>
            <a:ext cx="4095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8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Identifies VPNs via payload randomness. Encrypted blocks yield entropy approaching 8.0.</a:t>
            </a:r>
            <a:endParaRPr sz="1293">
              <a:solidFill>
                <a:schemeClr val="dk1"/>
              </a:solidFill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1529899" y="4814338"/>
            <a:ext cx="4095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8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Synchronizes client/server time dynamically to calculate offsets and defeat local clock tampering.</a:t>
            </a:r>
            <a:endParaRPr sz="1293">
              <a:solidFill>
                <a:schemeClr val="dk1"/>
              </a:solidFill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566688" y="4814338"/>
            <a:ext cx="40956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8" u="none" cap="none" strike="noStrike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Prefix-free variable-length encoding generated via a Min-Heap frequency tree to compress 512-byte payload limits securely without data loss.</a:t>
            </a:r>
            <a:endParaRPr sz="1293">
              <a:solidFill>
                <a:schemeClr val="dk1"/>
              </a:solidFill>
            </a:endParaRPr>
          </a:p>
        </p:txBody>
      </p:sp>
      <p:pic>
        <p:nvPicPr>
          <p:cNvPr descr="image.png" id="206" name="Google Shape;20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29899" y="1769281"/>
            <a:ext cx="422299" cy="42229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2092977" y="1867575"/>
            <a:ext cx="26751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8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Rivest-Shamir-Adleman (RSA)</a:t>
            </a:r>
            <a:endParaRPr sz="1293"/>
          </a:p>
        </p:txBody>
      </p:sp>
      <p:pic>
        <p:nvPicPr>
          <p:cNvPr descr="image.png" id="208" name="Google Shape;208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66688" y="1754108"/>
            <a:ext cx="422298" cy="422298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8"/>
          <p:cNvSpPr txBox="1"/>
          <p:nvPr/>
        </p:nvSpPr>
        <p:spPr>
          <a:xfrm>
            <a:off x="7129752" y="1867585"/>
            <a:ext cx="14877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Shannon Entropy</a:t>
            </a:r>
            <a:endParaRPr sz="1293"/>
          </a:p>
        </p:txBody>
      </p:sp>
      <p:pic>
        <p:nvPicPr>
          <p:cNvPr descr="image.png" id="210" name="Google Shape;21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915166" y="2985670"/>
            <a:ext cx="3424850" cy="4467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529899" y="4240948"/>
            <a:ext cx="422299" cy="42229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2092980" y="4339255"/>
            <a:ext cx="23373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Cristian's Algorithm</a:t>
            </a:r>
            <a:endParaRPr sz="1293"/>
          </a:p>
        </p:txBody>
      </p:sp>
      <p:pic>
        <p:nvPicPr>
          <p:cNvPr descr="image.png" id="213" name="Google Shape;213;p1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895357" y="5579615"/>
            <a:ext cx="1390889" cy="263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66688" y="4240948"/>
            <a:ext cx="422298" cy="42229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7129752" y="4339253"/>
            <a:ext cx="1426200" cy="2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85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Huffman Coding</a:t>
            </a:r>
            <a:endParaRPr sz="1293"/>
          </a:p>
        </p:txBody>
      </p:sp>
      <p:pic>
        <p:nvPicPr>
          <p:cNvPr descr="image.png" id="216" name="Google Shape;216;p18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39872" y="1892451"/>
            <a:ext cx="202351" cy="175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8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6689858" y="1877278"/>
            <a:ext cx="175957" cy="175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8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53069" y="4364118"/>
            <a:ext cx="175958" cy="175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8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698656" y="4364118"/>
            <a:ext cx="158362" cy="17595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599917" y="6509495"/>
            <a:ext cx="1895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SOFTWARE PROJECT LAB 1</a:t>
            </a:r>
            <a:endParaRPr/>
          </a:p>
        </p:txBody>
      </p:sp>
      <p:sp>
        <p:nvSpPr>
          <p:cNvPr id="221" name="Google Shape;221;p18"/>
          <p:cNvSpPr txBox="1"/>
          <p:nvPr/>
        </p:nvSpPr>
        <p:spPr>
          <a:xfrm>
            <a:off x="11037653" y="6539443"/>
            <a:ext cx="51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PAGE </a:t>
            </a:r>
            <a:r>
              <a:rPr lang="en-US" sz="975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9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625" y="6124575"/>
            <a:ext cx="105727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700" y="2182270"/>
            <a:ext cx="3301900" cy="321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4975" y="2182270"/>
            <a:ext cx="3302049" cy="321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0400" y="2182270"/>
            <a:ext cx="3301900" cy="321156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809625" y="619125"/>
            <a:ext cx="11101387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Technology Stack</a:t>
            </a:r>
            <a:endParaRPr/>
          </a:p>
        </p:txBody>
      </p:sp>
      <p:sp>
        <p:nvSpPr>
          <p:cNvPr id="231" name="Google Shape;231;p19"/>
          <p:cNvSpPr/>
          <p:nvPr/>
        </p:nvSpPr>
        <p:spPr>
          <a:xfrm>
            <a:off x="809625" y="1213395"/>
            <a:ext cx="571500" cy="381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809625" y="6324600"/>
            <a:ext cx="18954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SOFTWARE PROJECT LAB 1</a:t>
            </a:r>
            <a:endParaRPr/>
          </a:p>
        </p:txBody>
      </p:sp>
      <p:sp>
        <p:nvSpPr>
          <p:cNvPr id="233" name="Google Shape;233;p19"/>
          <p:cNvSpPr txBox="1"/>
          <p:nvPr/>
        </p:nvSpPr>
        <p:spPr>
          <a:xfrm>
            <a:off x="10868025" y="6324600"/>
            <a:ext cx="51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PAGE </a:t>
            </a:r>
            <a:r>
              <a:rPr lang="en-US" sz="975">
                <a:solidFill>
                  <a:srgbClr val="64748B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7</a:t>
            </a:r>
            <a:endParaRPr/>
          </a:p>
        </p:txBody>
      </p:sp>
      <p:pic>
        <p:nvPicPr>
          <p:cNvPr descr="image.png" id="234" name="Google Shape;23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17750" y="26204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1776818" y="3496720"/>
            <a:ext cx="136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Engine</a:t>
            </a:r>
            <a:endParaRPr/>
          </a:p>
        </p:txBody>
      </p:sp>
      <p:sp>
        <p:nvSpPr>
          <p:cNvPr id="236" name="Google Shape;236;p19"/>
          <p:cNvSpPr txBox="1"/>
          <p:nvPr/>
        </p:nvSpPr>
        <p:spPr>
          <a:xfrm>
            <a:off x="1104975" y="3980560"/>
            <a:ext cx="2711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Written entirely in high-performance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C++17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Utilizes strict packet-level network control via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libpcap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native raw sockets.</a:t>
            </a:r>
            <a:endParaRPr/>
          </a:p>
        </p:txBody>
      </p:sp>
      <p:pic>
        <p:nvPicPr>
          <p:cNvPr descr="image.png" id="237" name="Google Shape;23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53026" y="26204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9"/>
          <p:cNvSpPr txBox="1"/>
          <p:nvPr/>
        </p:nvSpPr>
        <p:spPr>
          <a:xfrm>
            <a:off x="5032165" y="3504775"/>
            <a:ext cx="2227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Supervision UI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4740250" y="3980560"/>
            <a:ext cx="2711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Renders a lightweight, responsive, and hardware-accelerated dashboard interface utilizing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Dear ImGui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GLFW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and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OpenGL 3.2+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descr="image.png" id="240" name="Google Shape;240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88450" y="26204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9"/>
          <p:cNvSpPr txBox="1"/>
          <p:nvPr/>
        </p:nvSpPr>
        <p:spPr>
          <a:xfrm>
            <a:off x="8857179" y="3496720"/>
            <a:ext cx="174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Version Control</a:t>
            </a:r>
            <a:endParaRPr/>
          </a:p>
        </p:txBody>
      </p:sp>
      <p:sp>
        <p:nvSpPr>
          <p:cNvPr id="242" name="Google Shape;242;p19"/>
          <p:cNvSpPr txBox="1"/>
          <p:nvPr/>
        </p:nvSpPr>
        <p:spPr>
          <a:xfrm>
            <a:off x="8375675" y="3980560"/>
            <a:ext cx="27114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Strict source code versioning, branch management, and collaborative integration managed via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and hosted securely on </a:t>
            </a:r>
            <a:r>
              <a:rPr b="1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GitHub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pic>
        <p:nvPicPr>
          <p:cNvPr descr="image.png" id="243" name="Google Shape;243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08250" y="281092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24476" y="2810920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98000" y="2810920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 txBox="1"/>
          <p:nvPr/>
        </p:nvSpPr>
        <p:spPr>
          <a:xfrm>
            <a:off x="3923079" y="2370150"/>
            <a:ext cx="43458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0F172A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Thank You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51" name="Google Shape;251;p20" title="github-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875" y="4035447"/>
            <a:ext cx="391159" cy="39115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0"/>
          <p:cNvSpPr txBox="1"/>
          <p:nvPr/>
        </p:nvSpPr>
        <p:spPr>
          <a:xfrm>
            <a:off x="3080497" y="3995250"/>
            <a:ext cx="879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4525" lIns="104525" spcFirstLastPara="1" rIns="104525" wrap="square" tIns="1045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2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https://github.com/DevNexus09/Argus-ExamSupervisonSystem.git</a:t>
            </a:r>
            <a:endParaRPr sz="182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